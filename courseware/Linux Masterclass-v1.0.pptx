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4" r:id="rId15"/>
    <p:sldId id="268" r:id="rId19"/>
    <p:sldId id="269" r:id="rId20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9" r:id="rId1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Relationship Id="rId74" Type="http://schemas.openxmlformats.org/officeDocument/2006/relationships/slide" Target="slides/slide61.xml"/><Relationship Id="rId75" Type="http://schemas.openxmlformats.org/officeDocument/2006/relationships/slide" Target="slides/slide62.xml"/><Relationship Id="rId76" Type="http://schemas.openxmlformats.org/officeDocument/2006/relationships/slide" Target="slides/slide63.xml"/><Relationship Id="rId77" Type="http://schemas.openxmlformats.org/officeDocument/2006/relationships/slide" Target="slides/slide64.xml"/><Relationship Id="rId78" Type="http://schemas.openxmlformats.org/officeDocument/2006/relationships/slide" Target="slides/slide65.xml"/><Relationship Id="rId79" Type="http://schemas.openxmlformats.org/officeDocument/2006/relationships/slide" Target="slides/slide66.xml"/><Relationship Id="rId80" Type="http://schemas.openxmlformats.org/officeDocument/2006/relationships/slide" Target="slides/slide67.xml"/><Relationship Id="rId81" Type="http://schemas.openxmlformats.org/officeDocument/2006/relationships/slide" Target="slides/slide68.xml"/><Relationship Id="rId82" Type="http://schemas.openxmlformats.org/officeDocument/2006/relationships/slide" Target="slides/slide69.xml"/><Relationship Id="rId83" Type="http://schemas.openxmlformats.org/officeDocument/2006/relationships/slide" Target="slides/slide70.xml"/><Relationship Id="rId84" Type="http://schemas.openxmlformats.org/officeDocument/2006/relationships/slide" Target="slides/slide71.xml"/><Relationship Id="rId85" Type="http://schemas.openxmlformats.org/officeDocument/2006/relationships/slide" Target="slides/slide72.xml"/><Relationship Id="rId86" Type="http://schemas.openxmlformats.org/officeDocument/2006/relationships/slide" Target="slides/slide73.xml"/><Relationship Id="rId87" Type="http://schemas.openxmlformats.org/officeDocument/2006/relationships/slide" Target="slides/slide74.xml"/><Relationship Id="rId88" Type="http://schemas.openxmlformats.org/officeDocument/2006/relationships/slide" Target="slides/slide75.xml"/><Relationship Id="rId89" Type="http://schemas.openxmlformats.org/officeDocument/2006/relationships/slide" Target="slides/slide76.xml"/><Relationship Id="rId90" Type="http://schemas.openxmlformats.org/officeDocument/2006/relationships/slide" Target="slides/slide77.xml"/><Relationship Id="rId91" Type="http://schemas.openxmlformats.org/officeDocument/2006/relationships/slide" Target="slides/slide78.xml"/><Relationship Id="rId92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slide" Target="slides/slide81.xml"/><Relationship Id="rId95" Type="http://schemas.openxmlformats.org/officeDocument/2006/relationships/slide" Target="slides/slide82.xml"/><Relationship Id="rId96" Type="http://schemas.openxmlformats.org/officeDocument/2006/relationships/slide" Target="slides/slide83.xml"/><Relationship Id="rId97" Type="http://schemas.openxmlformats.org/officeDocument/2006/relationships/slide" Target="slides/slide84.xml"/><Relationship Id="rId98" Type="http://schemas.openxmlformats.org/officeDocument/2006/relationships/slide" Target="slides/slide85.xml"/><Relationship Id="rId99" Type="http://schemas.openxmlformats.org/officeDocument/2006/relationships/slide" Target="slides/slide86.xml"/><Relationship Id="rId100" Type="http://schemas.openxmlformats.org/officeDocument/2006/relationships/slide" Target="slides/slide87.xml"/><Relationship Id="rId101" Type="http://schemas.openxmlformats.org/officeDocument/2006/relationships/slide" Target="slides/slide88.xml"/><Relationship Id="rId102" Type="http://schemas.openxmlformats.org/officeDocument/2006/relationships/slide" Target="slides/slide89.xml"/><Relationship Id="rId103" Type="http://schemas.openxmlformats.org/officeDocument/2006/relationships/slide" Target="slides/slide90.xml"/><Relationship Id="rId104" Type="http://schemas.openxmlformats.org/officeDocument/2006/relationships/slide" Target="slides/slide91.xml"/><Relationship Id="rId105" Type="http://schemas.openxmlformats.org/officeDocument/2006/relationships/slide" Target="slides/slide92.xml"/><Relationship Id="rId106" Type="http://schemas.openxmlformats.org/officeDocument/2006/relationships/slide" Target="slides/slide93.xml"/><Relationship Id="rId107" Type="http://schemas.openxmlformats.org/officeDocument/2006/relationships/slide" Target="slides/slide94.xml"/><Relationship Id="rId108" Type="http://schemas.openxmlformats.org/officeDocument/2006/relationships/slide" Target="slides/slide95.xml"/><Relationship Id="rId109" Type="http://schemas.openxmlformats.org/officeDocument/2006/relationships/slide" Target="slides/slide96.xml"/><Relationship Id="rId110" Type="http://schemas.openxmlformats.org/officeDocument/2006/relationships/slide" Target="slides/slide97.xml"/><Relationship Id="rId111" Type="http://schemas.openxmlformats.org/officeDocument/2006/relationships/slide" Target="slides/slide98.xml"/><Relationship Id="rId112" Type="http://schemas.openxmlformats.org/officeDocument/2006/relationships/slide" Target="slides/slide99.xml"/><Relationship Id="rId113" Type="http://schemas.openxmlformats.org/officeDocument/2006/relationships/slide" Target="slides/slide100.xml"/><Relationship Id="rId114" Type="http://schemas.openxmlformats.org/officeDocument/2006/relationships/slide" Target="slides/slide101.xml"/><Relationship Id="rId115" Type="http://schemas.openxmlformats.org/officeDocument/2006/relationships/slide" Target="slides/slide102.xml"/><Relationship Id="rId116" Type="http://schemas.openxmlformats.org/officeDocument/2006/relationships/slide" Target="slides/slide103.xml"/><Relationship Id="rId117" Type="http://schemas.openxmlformats.org/officeDocument/2006/relationships/slide" Target="slides/slide104.xml"/><Relationship Id="rId118" Type="http://schemas.openxmlformats.org/officeDocument/2006/relationships/slide" Target="slides/slide105.xml"/><Relationship Id="rId119" Type="http://schemas.openxmlformats.org/officeDocument/2006/relationships/slide" Target="slides/slide106.xml"/><Relationship Id="rId120" Type="http://schemas.openxmlformats.org/officeDocument/2006/relationships/slide" Target="slides/slide107.xml"/><Relationship Id="rId121" Type="http://schemas.openxmlformats.org/officeDocument/2006/relationships/slide" Target="slides/slide108.xml"/><Relationship Id="rId122" Type="http://schemas.openxmlformats.org/officeDocument/2006/relationships/slide" Target="slides/slide109.xml"/><Relationship Id="rId123" Type="http://schemas.openxmlformats.org/officeDocument/2006/relationships/slide" Target="slides/slide110.xml"/><Relationship Id="rId124" Type="http://schemas.openxmlformats.org/officeDocument/2006/relationships/slide" Target="slides/slide111.xml"/><Relationship Id="rId125" Type="http://schemas.openxmlformats.org/officeDocument/2006/relationships/slide" Target="slides/slide112.xml"/><Relationship Id="rId126" Type="http://schemas.openxmlformats.org/officeDocument/2006/relationships/slide" Target="slides/slide113.xml"/><Relationship Id="rId127" Type="http://schemas.openxmlformats.org/officeDocument/2006/relationships/slide" Target="slides/slide114.xml"/><Relationship Id="rId128" Type="http://schemas.openxmlformats.org/officeDocument/2006/relationships/slide" Target="slides/slide115.xml"/><Relationship Id="rId129" Type="http://schemas.openxmlformats.org/officeDocument/2006/relationships/slide" Target="slides/slide116.xml"/><Relationship Id="rId130" Type="http://schemas.openxmlformats.org/officeDocument/2006/relationships/slide" Target="slides/slide117.xml"/><Relationship Id="rId131" Type="http://schemas.openxmlformats.org/officeDocument/2006/relationships/slide" Target="slides/slide118.xml"/><Relationship Id="rId132" Type="http://schemas.openxmlformats.org/officeDocument/2006/relationships/slide" Target="slides/slide119.xml"/><Relationship Id="rId133" Type="http://schemas.openxmlformats.org/officeDocument/2006/relationships/slide" Target="slides/slide120.xml"/><Relationship Id="rId134" Type="http://schemas.openxmlformats.org/officeDocument/2006/relationships/slide" Target="slides/slide121.xml"/><Relationship Id="rId135" Type="http://schemas.openxmlformats.org/officeDocument/2006/relationships/slide" Target="slides/slide122.xml"/><Relationship Id="rId136" Type="http://schemas.openxmlformats.org/officeDocument/2006/relationships/slide" Target="slides/slide123.xml"/><Relationship Id="rId137" Type="http://schemas.openxmlformats.org/officeDocument/2006/relationships/slide" Target="slides/slide124.xml"/><Relationship Id="rId138" Type="http://schemas.openxmlformats.org/officeDocument/2006/relationships/slide" Target="slides/slide125.xml"/><Relationship Id="rId139" Type="http://schemas.openxmlformats.org/officeDocument/2006/relationships/slide" Target="slides/slide126.xml"/><Relationship Id="rId140" Type="http://schemas.openxmlformats.org/officeDocument/2006/relationships/slide" Target="slides/slide127.xml"/><Relationship Id="rId141" Type="http://schemas.openxmlformats.org/officeDocument/2006/relationships/slide" Target="slides/slide128.xml"/><Relationship Id="rId142" Type="http://schemas.openxmlformats.org/officeDocument/2006/relationships/slide" Target="slides/slide129.xml"/><Relationship Id="rId143" Type="http://schemas.openxmlformats.org/officeDocument/2006/relationships/slide" Target="slides/slide130.xml"/><Relationship Id="rId144" Type="http://schemas.openxmlformats.org/officeDocument/2006/relationships/slide" Target="slides/slide131.xml"/><Relationship Id="rId145" Type="http://schemas.openxmlformats.org/officeDocument/2006/relationships/slide" Target="slides/slide132.xml"/><Relationship Id="rId146" Type="http://schemas.openxmlformats.org/officeDocument/2006/relationships/slide" Target="slides/slide133.xml"/><Relationship Id="rId150" Type="http://schemas.openxmlformats.org/officeDocument/2006/relationships/slide" Target="slides/slide1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692640" y="566928"/>
            <a:ext cx="1828800" cy="1143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658368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0B981"/>
                </a:solidFill>
                <a:latin typeface="Arial"/>
              </a:rPr>
              <a:t>$ bash_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123444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LINUX · SHELL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NON-WSQ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Linux Masterclass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C579</a:t>
            </a:r>
          </a:p>
          <a:p>
            <a:r>
              <a:rPr sz="1600" b="0"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 ·  1 October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Linux system administration, shell scripting, DevOps and software engineering.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Courses on Linux, cloud computing, data science, AI and secure software engineering.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Linux, Unix or the command line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to be able to configure or automate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Full attendance — attend both days to get the most from the course.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LMS / TMS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51479" y="1728216"/>
            <a:ext cx="5888736" cy="372160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ms-t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343" y="1783080"/>
            <a:ext cx="5779008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596128"/>
            <a:ext cx="10634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Log in with your enrolment email → open your course → download the slides and Learner Guide.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5989320"/>
            <a:ext cx="77724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6035040"/>
            <a:ext cx="7772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https://lms-tms.tertiaryinfotech.com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7.5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Linux Fundamental &amp; Shell Scripting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Welcome &amp; introductions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Linux Fundamental (Labs 1–4)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Lunch (30 min)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Linux Shell Script (Labs 5–12)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Day 1 recap and Q&amp;A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Networking Configuration &amp; Security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Day 1 recap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Linux Networking Configuration (Labs 13–15)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Lunch (30 min)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Linux Security (Labs 16–17)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Course wrap-up, feedback and Q&amp;A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Daily timing: 9:30am–5:30pm · 30-min lunch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FOUR TOPICS · 17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1 · Linux Fundamental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Linux components, distributions, file system, users and permissions.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2 · Linux Shell Script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Shell environment, text processing, and Bash scripting from variables to functions.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3 · Linux Networking Configuration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Processes, cron, packages, service deployment and network configuration tests.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4 · Linux Security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Security principles, least privilege, firewall, hardening and audit scripts.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HANDS-ON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Lab Platform — KillerCoda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51479" y="1728216"/>
            <a:ext cx="5888736" cy="372160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illercoda-ubun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343" y="1783080"/>
            <a:ext cx="5779008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596128"/>
            <a:ext cx="10634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 lab runs in the free browser-based Ubuntu playground — no installation on your laptop.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5989320"/>
            <a:ext cx="7772400" cy="3840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6035040"/>
            <a:ext cx="7772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https://killercoda.com/playgrounds/scenario/ubuntu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Linux Fundamental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Linux components · distributions · file system · users and permissions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Linux Fundamental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Linux OS &amp; kernel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Linux is a free, open-source, Unix-like OS; the kernel plus apps and tools form a distribution.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Distributions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RHEL, Fedora, CentOS, AlmaLinux, Ubuntu, Debian, SUSE — pick by need, support and package system.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Ways to run Linux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Virtual machine, native install, live boot, cloud service, WSL — or a browser playground like KillerCoda.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File system hierarchy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tree from / — /bin, /etc, /home, /opt, /tmp, /usr, /var; everything is a file.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Users &amp; superuser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Regular, system, service and group accounts; root is all-powerful — use su/sudo with care.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Permissions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Read/write/execute for user, group and other — set with chmod (alpha or octal), chown and umask.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Linux?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 operating system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software layer that manages your hardware and runs applications.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kernel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 its core, 'Linux' is the kernel created by Linus Torvalds in 1991; v1.0 shipped in 1994.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FOSS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Free and open-source software — anyone can inspect, modify and redistribute the code.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Unix-like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Linux follows Unix design: everything is a file, small tools, plain-text pipes.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CASE FOR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Linux?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Runs on many hardware platforms — servers, desktops, Raspberry Pi, phones.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Small footprint and efficient on modest hardware.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Stable, reliable and secure — powers most of the internet's servers.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Free and open source, with a huge free-software ecosystem.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Choice and freedom — hundreds of distributions to fit any need.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native home of the shell and shell scripting.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FROM GNU TO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History of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1984 — Stallman starts the GNU project: a free Unix-like OS (tools, compilers, libraries)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1991 — Linus Torvalds writes the Linux kernel and combines it with the GNU 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1994 — Linux 1.0 released; distributions begin to package kernel + apps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Today — Linux powers servers, clouds, Android, supercomputers and embedded devices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Kernel vs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Kernel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•  The kernel is the core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Manages CPU, memory, devices and processes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Kernel + apps + tools = a distribution (distro)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 distro is Linux packaged, integrated and tested for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•  Each distro differs by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Package management system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Release cadence and support model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Design philosophy and target audience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Community or commercial backing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DISTRO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Popular Linux Distributions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Red Hat family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RHEL, Fedora, CentOS, AlmaLinux, Rocky — RPM packages, dnf/yum.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Debian family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Debian, Ubuntu, Linux Mint, Kali — DEB packages, apt.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SUSE family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SUSE Linux Enterprise Server (SLES) and openSUSE — zypper.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Choosing one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Desktop needed? Ubuntu/Mint/Fedora. Server? Ubuntu Server or Debian. Same software may differ by name — Apache is apache2 on Ubuntu, httpd on Red Hat.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SIX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Ways to Run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Virtual machine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VirtualBox, VMware, Hyper-V — an isolated, protected OS inside your computer.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Native install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performance on real hardware — even a Raspberry Pi; replaces the existing 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Live boot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Boot from USB without touching the disk — easy, but slower and non-persistent.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Cloud service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AWS, Azure, Google Cloud, Alibaba — great for SSH text access, no desktop.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WSL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Windows Subsystem for Linux — distros from the Microsoft Store on Windows 10/11.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Browser playground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KillerCoda gives a real Ubuntu sandbox in your browser — our course platform.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RELEASE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Identify Your Linux Release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who am I logged in as?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whoami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kernel release and architecture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uname -a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distribution name and version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lsb_release -a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full release record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cat /etc/os-release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which shell am I running?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echo $SHELL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release = kernel + distribution + shell + packages. These commands identify each component.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THE FILE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Everything in Linux hangs off one tree — the root directory 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The file system is hierarchical: one root, with standard directories whose purpose every admin knows.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FILE SYSTEM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Common Directories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/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'Root' — the top of the file system hierarchy.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965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/bin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Binaries and other executable programs.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/etc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System configuration files.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35224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11810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/home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Users' home directories.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/opt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Optional or third-party software.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087368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42702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/tmp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Temporary space, typically cleared on reboot.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/usr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User-related programs and read-only data.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87668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7668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9188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/var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Variable data — most notably log files in /var/log.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PATHS &amp; SHORTCUTS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Navigating the Tree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where am I?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pwd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absolute path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cd /var/log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home shortcut (tilde expansion)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cd ~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up one level · this directory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cd ..    # '..' parent · '.' current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visual tree, directories only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tree -d -L 2 /var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Absolute paths start at /; relative paths start where you stand. ~ expands to your home directory.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MULTIUSER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User Accounts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Superuser (root)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most powerful account — can perform any action and access any file.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Regular user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Standard account for everyday tasks with limited privileges.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System account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Runs system services and daemons; generally no login shell.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Group account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Manages a collection of users to control access to resources.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Service account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Runs a specific service or application with limited privileges.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Guest account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Temporary access with minimal privileges.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PRIVILEGE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Root, the Superuser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Root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su &amp; sudo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•  Root is all-powerful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Normal accounts do a subset of what root can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Needed to install, start or stop system software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Access is restricted to administrators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Be careful — root can destroy the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•  Borrowing root safely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su [user] — switch user; '-' loads their environment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sudo command — run one command as root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sudo -l — list what you may run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sudo su - — become root with root's 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MEET YOUR INTERPRETER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the Shell?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Command interpreter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program that accepts your commands and executes them — the default interface to Linux.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Many shells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 (Bourne 1977), csh/tcsh (1979), ksh (1982), bash (1987), zsh (1990) — bash is the Linux default.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CLI vs GUI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command line is more powerful and always available; servers ship without a GUI.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Check yours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echo $SHELL shows your login shell; environment variables are UPPERCASE with a $ prefix.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Linux Fundamental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Getting Started with the KillerCoda Ubuntu Playground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Exploring the Linux File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Working with Files, Directories and Links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Users, Ownership and Permissions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Getting Started with the KillerCoda Ubuntu Playground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Launch the free browser-based KillerCoda Ubuntu playground, explore the terminal, and identify the components of the running Linux release: the kernel version, the distribution and the shell.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working Ubuntu lab environment with the course exercise files cloned from GitHub.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KillerCoda Ubuntu playground, bash, git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GETTING STARTED WITH THE KILLERCODA UBUNTU PLAYGROUND ·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Commands — Lab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Open the KillerCoda Ubuntu playground in your browser and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https://killercoda.com/playgrounds/scenario/ubuntu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Confirm who you are logged in as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whoami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Identify the kernel release and system architecture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uname -a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Identify the Ubuntu distribution and release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lsb_release -a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Inspect the distribution details recorded in the os-release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cat /etc/os-release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Check which shell you are running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echo $SHELL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detailed step-by-step walkthrough is in the Learner Guide and labs/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Getting Started with the KillerCoda Ubuntu Playground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uname -a shows a Linux kernel, lsb_release -a shows Ubuntu, and sysinfo.sh prints a system report with the kernel, distro, shell, uptime and disk usage.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Exploring the Linux File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Navigate the Linux file system hierarchy from the root directory down: identify what lives in /bin, /etc, /home, /var and friends, use absolute and relative paths, and reveal hidden files.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mental map of the Linux directory tree and fluency with pwd, cd, ls and tree.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bash, coreutils, 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EXPLORING THE LINUX FILE SYSTEM ·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Commands — Lab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Print your current (home) directory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pwd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List the top of the file system hierarchy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ls /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Look at system configuration files in /etc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ls /etc | head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Look at log files in /var/log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ls /var/log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Change into /etc with an absolute path, then return home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cd /etc &amp;&amp; pwd &amp;&amp; cd ~ &amp;&amp; pwd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Move up one level with the .. shortcut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cd .. &amp;&amp; pwd &amp;&amp; cd ~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detailed step-by-step walkthrough is in the Learner Guide and labs/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Exploring the Linux File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explain what /bin, /etc, /home, /tmp, /usr and /var hold, and ls -la ~ reveals hidden dot files such as .bashrc.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Working with Files, Directories and Links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and manage files and directories with touch, mkdir, cp, mv and rm; generate file sets with brace expansion; edit with nano; and compare hard links against symbolic links.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working directory of files you created, renamed, moved and linked — including a hard link that survives deletion of its original and a symlink that breaks.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bash, coreutils, nano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WORKING WITH FILES, DIRECTORIES AND LINKS ·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Commands — Lab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Make a working directory and change into it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mkdir ~/demo &amp;&amp; cd ~/demo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Create an empty file with touch and check it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touch new_file.txt &amp;&amp; ls -l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Create six files at once with brace expansion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touch apple_{A,B}{1..3}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Verify the expansion created apple_A1..apple_B3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ls apple_*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Edit new_file.txt with nano — type a line, then Ctrl-X, y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nano new_file.txt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Copy a file, then rename it with mv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cp new_file.txt copy.txt &amp;&amp; mv copy.txt renamed.txt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detailed step-by-step walkthrough is in the Learner Guide and labs/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Working with Files, Directories and Links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cat lorem2 still shows the text after lorem.txt is deleted, while cat lorem3 reports 'No such file or directory' — you can explain why.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Users, Ownership and Permissions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Work with the multiuser model: switch identities with su/sudo, read ls -l permission strings, and control access with chmod (alphabetic and octal), chown and umask.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fruit.txt file whose permissions you set to rw-r--r-- and rwxrwxrw-, plus a file owned by root.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bash, sudo, coreutils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USERS, OWNERSHIP AND PERMISSIONS ·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Commands — Lab 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Confirm your identity and list what sudo lets you do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whoami &amp;&amp; sudo -l | head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Copy the fruit.txt exercise file to your home directory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cp ~/course/labs/lab-04-permissions/fruit.txt ~/fruit.txt &amp;&amp; cd ~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Decode the permission string in a long listing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ls -l fruit.txt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Give user+group execute with alphabetic notation, then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chmod ug+x fruit.txt &amp;&amp; ls -l fruit.txt &amp;&amp; chmod ug-x fruit.txt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Set exact permissions rw-/r--/r-- with alphabetic notation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chmod u=rw,g=r,o=r fruit.txt &amp;&amp; ls -l fruit.txt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Set rwxrwxrw- using octal notation (776)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chmod 776 fruit.txt &amp;&amp; ls -l fruit.txt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detailed step-by-step walkthrough is in the Learner Guide and labs/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Users, Ownership and Permissions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ls -l shows -rw-r--r-- after the alphabetic chmod and -rwxrwxrw- after chmod 776; the root-owned file refuses your write until you chown it 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Linux Fundamental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Analyse the components of a Linux release — kernel, shell and distribution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Analyse how a Linux system organises its release components on disk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Coordinate release files — create, copy, move, remove and link them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Coordinate access to release components with users, groups and permissions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Linux Shell 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Shell environment · text processing · Bash scripting: variables, conditionals, loops,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Linux Shell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shell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command-line interpreter (bash, zsh, ksh, csh…) — the default, scriptable interface to Linux.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Environment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Aliases, environment variables, PATH and PS1 customise the shell; persist them in ~/.bashrc.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Redirection &amp; pipes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&gt; &gt;&gt; &lt; 2&gt; redirect streams; | chains commands; /dev/null discards output.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Text power 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grep with regular expressions, sort, cut, uniq, head/tail, diff — process any text stream.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Bash scripts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script = shebang + commands; make it executable with chmod +x and run it with ./script.sh.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Script constructs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Variables, read input, positional arguments, arithmetic, if/test/case, for/while/until, functions, exit codes.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EVERY UNIX COMMAND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Command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COMMAND — the program to run (echo, ls, grep)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OPTIONS — switches that modify behaviour (-l, -a, --help)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ARGUMENTS — what to act on (files, directories, text)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Example: ls -lah Desktop = ls -l -a -h Desktop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FIRST 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Basic Linux Commands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Lists directory contents.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965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Changes the current directory.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pwd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Displays the present working directory.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35224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11810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Concatenates and displays files.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echo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Displays arguments to the screen.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087368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42702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Displays the online manual.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Exits the shell or current session.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87668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7668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9188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clear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Clears the screen.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MAN · HELP · WHICH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Getting Help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read the manual (q to quit; Space = page, g/G = top/bottom)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man ls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search the man pages by keyword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man -k copy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quick help from the command itself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ls --help   # or -h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where does a command live?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which nano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Enter moves one line, Space one page, g top, G bottom, q quits the pager.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BEYOND PLAIN 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Listing Files — ls Power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long format, all files, human sizes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ls -lah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sort by time · reverse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ls -t    ls -r    ls -latr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reveal types: / dir · @ link · * executable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ls -F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recursive listing · directory itself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ls -R    ls -d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decode: -rw-r--r-- 1 owner group size date name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ls -l fruit.txt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ls -l shows permissions, links, owner, group, size, modified time and name.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TWO KINDS OF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Hard Links vs Symbolic Links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Hard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Symbolic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•  Hard link — ln file shortcut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References the file's data on disk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Survives moves of the original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Survives deletion of the original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Cannot span file systems or link directories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•  Symbolic link — ln -s file symlink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References a file or directory path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Breaks if the original is moved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Breaks if the original is deleted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Used for shortcuts and 'current version' pointers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NAME FILES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Naming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Maximum of 255 characters.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Avoid special characters such as / \ &amp; % and spaces.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A–Z, a–z, 0–9, period, underscore and hyphen.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Names are case sensitive: Notes.txt ≠ notes.txt.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Prefer underscores/hyphens/CamelCase over spaces; quote or escape (\ ) if you must.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Extensions (.txt, .sh) are optional but helpful.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PERMISSION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Permissions — r w 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 = read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View a file's contents; list a directory.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 = write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Modify a file; create/delete entries in a directory.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x = execute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 a file as a program; enter (cd into) a directory.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Three audiences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 = user (owner), g = group, o = other — shown as rwxrwxrwx in ls -l.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CHMOD · CHOWN · UMASK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Changing Permissions &amp; Ownership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alphabetic notation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chmod u=rwx,g=rw,o=r file    chmod ug+x file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octal notation: r=4 w=2 x=1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chmod 764 file    # rwx rw- r--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recursive on a directory tree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chmod -R 755 mydir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change owner (and group) — needs root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sudo chown user:group file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change group only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chgrp developers file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default permissions mask (666/777 minus mask)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umask    # commonly 022 → files 644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Directory permissions gate the files inside — if file permissions look right, check the directories above.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CREATING &amp; EDITING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Editors — nano and vi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nano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•  nano — simple and friendly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nano file — edit in place; Ctrl-X, y, Enter saves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On-screen key hints; ideal for quick edits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Also: touch creates empty files; gedit is graphical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•  vi / vim — powerful, modal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Esc = command mode · i/a = insert · : = line mode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Navigate: h j k l · w b · ^ $ · dd delete · yy yank · p paste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:w save · :q quit · :wq! save+quit · u undo · /find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INSPECTING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Print the whole file (or concatenate several).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more / less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Page through output — less lets you scroll back.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head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First 10 lines; head -15 file changes the count.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tail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Last 10 lines; tail -f follows the file in real time — perfect for logs.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Reports what type of data a file holds.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strings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Extracts printable text from binary files.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POWER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Finding, Sorting and Cutting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find files by name pattern (* ? [])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find ~/Documents -name '*.csv'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sort text — by field, reverse, unique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sort -k 2 -r -u file.txt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cut a delimited field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cut -d',' -f2 us_presidents.csv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count lines, words, characters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wc -l fruit.txt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compare files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diff original.txt revised.txt   # sdiff side-by-side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Small tools that each do one job well — then combine them with pipes.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STDIN · STDOUT · STDERR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Redirection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&gt;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Redirect stdout to a file — overwrites (truncates) existing contents.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&gt;&gt;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Redirect stdout to a file — appends to existing contents.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&lt;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Feed a file into a command's stdin.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2&gt; and 2&gt;&amp;1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Redirect stderr to a file; combine stderr with stdout.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| (pipe)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Connect one command's output to the next command's input.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/dev/null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null device — redirect here to discard output.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THE UNIX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Redirection &amp; Pipes in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overwrite, then append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sort fruit.txt &gt; sorted.txt    echo mango &gt;&gt; sorted.txt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join files into one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cat new.txt newer.txt &gt; joined.txt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file → command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wc &lt; fruit.txt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pipeline: sort then de-duplicate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sort fruit.txt | uniq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save every process to a file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ps aux &gt; processes.txt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page long output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cat lorem_ipsum.txt | less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Pipes chain small tools into pipelines — the heart of shell productivity.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THE SEARCH WORKHORSE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grep — Search with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find lines matching a pattern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grep apple fruit.txt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ignore case · whole word · count · invert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grep -i Apple f.txt   grep -w apple f.txt   grep -c apple f.txt   grep -v apple f.txt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line numbers · matching files · recursive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grep -n apple f.txt   grep -l apple *.txt   grep -R apple dir/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search a stream through a pipe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ps aux | grep bash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highlight matches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grep --color=auto lorem lorem_ipsum.txt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grep displays lines matching a pattern — from files or from a pipe.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PATTERN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Regular Expressions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any single character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. → grep 'a..le' fruit.txt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character class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[cp] → grep 'ea[cp]' fruit.txt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anchors: start ^ and end $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grep '^p' fruit.txt    grep 'berry$' fruit.txt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one-or-more (extended)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grep -E 'ap+le' fruit.txt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alternation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grep -E 'apple|pear' fruit.txt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class + anchor together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grep '^[sp]' fruit.txt   # starts with s or 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regular expression describes a text pattern — grep, sed and awk all speak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FROM COMMANDS TO PROGRAMS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Anatomy of a Shell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#!/bin/bash — the shebang tells Linux which interpreter runs the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Commands + variables + logic — anything you can type, you can 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chmod +x script.sh — make it executable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./script.sh — run it (or bash script.sh)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SCRIPT BUILDING BLOCKS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Variables, Input &amp; Arithmetic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assign (no spaces around =) and expand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name='Alfred'    echo "Hello $name"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command substitution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today=$(date +%F)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read user input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read -p 'Your name? ' name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positional parameters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$0 script · $1 $2 args · $# count · $@ all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integer arithmetic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sum=$(( $1 + $2 ))    echo $((7*6))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Double quotes expand $variables; single quotes print literally.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SCRIPT BUILDING BLOCKS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Conditionals — if, test and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numeric tests: -eq -ne -gt -lt -ge -le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if [ "$n" -gt 0 ]; then echo positive; fi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string tests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[ "$s" = 'linux' ]    [ -z "$s" ]  # empty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file tests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[ -e path ] exists · [ -f ] file · [ -d ] dir · [ -x ] executable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full branch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if …; then …; elif …; then …; else …; fi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multi-way selection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case $fruit in apple|pear) … ;; *) … ;; esac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test (the [ ] brackets) returns an exit status the if statement branches 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SCRIPT BUILDING BLOCKS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Loops — for, while and until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over a word list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for fruit in apple banana cherry; do echo $fruit; done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over a range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for i in {1..5}; do echo $i; done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over files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for f in *.txt; do wc -l "$f"; done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while a condition holds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while [ $i -gt 0 ]; do (( i-- )); done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until a condition becomes true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until [ $i -gt 5 ]; do (( i++ )); done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flow control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continue skips an iteration · break exits the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Loops turn one command into an automation over any number of items.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SCRIPT BUILDING BLOCKS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Functions, Exit Codes &amp; Debugging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define and call a function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greet() { local name=$1; echo "Hello, $name"; }    greet Linux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every command returns an exit status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ls /nope; echo $?   # non-zero = failure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set your script's own status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exit 1    # 0 = success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trace execution line by line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bash -x script.sh    # or set -x / set +x inside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clean up on Ctrl-C or exit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trap cleanup INT TERM EXIT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Functions structure bigger scripts; exit codes let scripts compose; -x and trap make them debuggable and robust.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Linux Shell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5–7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Customising the Shell Environment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Redirection, Pipes and Text Processing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Your First Shell 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8–10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User Input, Arguments and Arithmetic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Conditionals — if, test and case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Loops — for, while and until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11–12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Functions, Exit Status and Debugging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Automation Script — Backup with 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Customising the Shell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Configure your working environment: create aliases, set environment variables, extend PATH, customise the PS1 prompt, and persist the changes in ~/.bashrc.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personalised shell with a cls alias, a custom prompt and an extended PATH that survives new sessions.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bash, nano, 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CUSTOMISING THE SHELL ENVIRONMENT ·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Commands — Lab 5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List your current aliases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alias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Create aliases to fix a typo and clear the screen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alias grpe='grep' &amp;&amp; alias cls='clear'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Try the new aliases, then remove one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cls &amp;&amp; unalias grpe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Set an environment variable and read it back (no spaces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MYNAME='Alfred' &amp;&amp; echo $MYNAME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Export it so child processes inherit it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export MYNAME &amp;&amp; bash -c 'echo $MYNAME'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Inspect the command search path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echo $PATH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detailed step-by-step walkthrough is in the Learner Guide and labs/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Customising the Shell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After source ~/.bashrc, cls clears the screen, echo $PATH ends with your ~/bin, and the prompt shows user@host:directory.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Redirection, Pipes and Text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Master the Unix I/O model: redirect stdout/stderr, pipe commands together, and process text with grep, regular expressions, sort, cut, uniq, wc, head, tail and diff.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processed fruit list — sorted, de-duplicated and pattern-matched — plus a saved process listing.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bash, grep, sort, cut, uniq, wc, diff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REDIRECTION, PIPES AND TEXT PROCESSING ·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Commands — Lab 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Change into the lab folder with the exercise files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cd ~/course/labs/lab-06-text-processing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Page through a long file with head and tail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head lorem_ipsum.txt &amp;&amp; tail -3 lorem_ipsum.txt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Redirect a sorted copy of fruit.txt into a new file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sort fruit.txt &gt; fruit_sorted.txt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Append a new fruit to the file with &gt;&gt;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echo 'mango' &gt;&gt; fruit_sorted.txt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Feed a file into a command with &lt;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wc -l &lt; fruit_sorted.txt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Pipe sort into uniq to drop duplicates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sort fruit.txt | uniq | 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detailed step-by-step walkthrough is in the Learner Guide and labs/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Redirection, Pipes and Text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grep -c apple fruit.txt returns a count, grep '^[sp]' lists only s/p fruits, processes.txt contains your ps aux snapshot, and the pipe chain prints unique sorted fruits.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First Shell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Write, save and execute your first Bash script: the #!/bin/bash shebang, echo output, variables, quoting rules and command substitution — then put it on your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hello.sh and vars.sh — executable scripts that greet the user and report the date via command substitution.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bash, nano, chmod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YOUR FIRST SHELL SCRIPT ·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Commands — Lab 7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Create a scripts directory and change into it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mkdir -p ~/scripts &amp;&amp; cd ~/scripts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Create hello.sh with the shebang and an echo line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printf '#!/bin/bash\necho "Hello World from $(whoami)"\n' &gt; hello.sh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Try to run it — permission is denied because it is not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./hello.sh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Make it executable and run it again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chmod +x hello.sh &amp;&amp; ./hello.sh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Create vars.sh using variables and quoting (single vs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cp ~/course/labs/lab-07-first-script/vars.sh . &amp;&amp; cat vars.sh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Run vars.sh and study how $a, $b and $c interpolate inside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bash vars.sh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detailed step-by-step walkthrough is in the Learner Guide and labs/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First Shell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./hello.sh prints the greeting with your username, vars.sh prints 'Hello, I have 16 apples', and hello.sh runs from any directory once it is in ~/bin.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User Input, Arguments and Arithmetic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Make scripts interactive and reusable: read user input, use positional parameters $1..$9, $#, $@ and $0, and calculate with $(( )) arithmetic expansion.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greet.sh (reads your name), args.sh (echoes its arguments) and calc.sh (adds two numbers).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bash, 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USER INPUT, ARGUMENTS AND ARITHMETIC ·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Commands — Lab 8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Change into your scripts directory and copy the lab scripts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cd ~/scripts &amp;&amp; cp ~/course/labs/lab-08-input-arguments/*.sh .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Study greet.sh — read -p prompts the user and stores the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cat greet.sh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Run it and type your name when prompted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bash greet.sh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Study args.sh — $0 is the script, $1/$2 the arguments, $#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cat args.sh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Run it with two arguments and check each expansion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bash args.sh apple banana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Run it with five arguments — what changes?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bash args.sh a b c d 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detailed step-by-step walkthrough is in the Learner Guide and labs/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User Input, Arguments and Arithmetic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greet.sh greets you by the name you typed, args.sh reports the right count with $#, and calc.sh 15 27 prints 42.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Conditionals — if, test and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Branch your scripts: if/elif/else with test brackets for numeric, string and file checks, and the case statement for multi-way selection.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checknum.sh (positive/negative/zero), filecheck.sh (file tests) and fruitcase.sh (case menu).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bash,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CONDITIONALS — IF, TEST AND CASE ·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Commands — Lab 9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Copy the lab scripts into your scripts folder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cd ~/scripts &amp;&amp; cp ~/course/labs/lab-09-conditionals/*.sh .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Study checknum.sh — if / elif / else with numeric tests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cat checknum.sh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Run it against different numbers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bash checknum.sh 5 &amp;&amp; bash checknum.sh -3 &amp;&amp; bash checknum.sh 0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Study filecheck.sh — file tests: -e exists, -f regular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cat filecheck.sh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Test it against a file that exists and one that doesn't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bash filecheck.sh /etc/hostname &amp;&amp; bash filecheck.sh /no/such/file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Compare strings with = and != inside [ ]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s='linux'; if [ "$s" = 'linux' ]; then echo match; 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detailed step-by-step walkthrough is in the Learner Guide and labs/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Conditionals — if, test and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checknum.sh classifies 5, -3 and 0 correctly; filecheck.sh reports /etc/hostname as an existing regular file; fruitcase.sh hits its default branch for durian.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Loops — for, while and until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Automate repetition: for loops over lists, ranges and files; while and until loops with counters; and break/continue to control the flow.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forloop.sh, countdown.sh (while) and a renamer one-liner that processes a batch of files.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bash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LOOPS — FOR, WHILE AND UNTIL ·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Commands — Lab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Copy the lab scripts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cd ~/scripts &amp;&amp; cp ~/course/labs/lab-10-loops/*.sh .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Study forloop.sh — iterate a word list and a {1..5} range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cat forloop.sh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Run it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bash forloop.sh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Loop over files with a wildcard directly in the shell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for f in /etc/*.conf; do echo "config: $f"; done | head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Study countdown.sh — a while loop with a counter and (( i--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cat countdown.sh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Run the countdown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bash countdown.sh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detailed step-by-step walkthrough is in the Learner Guide and labs/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Loops — for, while and until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countdown.sh 5 counts 5-4-3-2-1 then 'Lift off!', the break/continue loop prints 1 2 4 5 6, and ~/batch holds report_1.bak … report_5.bak.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Functions, Exit Status and Debugging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Structure bigger scripts with functions, local variables and return values; read exit codes with $?; and debug with bash -x, set -x and trap.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funcs.sh (function library), exitcodes.sh and a debugged script traced with set -x.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bash, trap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FUNCTIONS, EXIT STATUS AND DEBUGGING ·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Commands — Lab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Copy the lab scripts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cd ~/scripts &amp;&amp; cp ~/course/labs/lab-11-functions/*.sh .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Study funcs.sh — define a function, pass it arguments, keep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cat funcs.sh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Run it and watch each function fire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bash funcs.sh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Check the exit status of a good and a bad command with $?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ls /etc &gt; /dev/null; echo $? ; ls /nope 2&gt;/dev/null; echo $?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Study exitcodes.sh — return values and exit N set the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cat exitcodes.sh &amp;&amp; bash exitcodes.sh; echo "script exited with $?"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Trace a script line by line with bash -x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bash -x funcs.sh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detailed step-by-step walkthrough is in the Learner Guide and labs/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Functions, Exit Status and Debugging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funcs.sh prints output from each function, a failed ls returns a non-zero $?, bash -x shows each command prefixed with +, and Ctrl-C on trapit.sh prints the cleanup message.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Script — Backup with tar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Put it all together: write backup.sh, a parameterised script that archives a directory with tar, gzip-compresses it, timestamps the filename, verifies the archive and reports disk usage.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backup.sh — a reusable backup tool producing dated .tar.gz archives with a verification listing.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bash, tar, gzip, du, 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AUTOMATION SCRIPT — BACKUP WITH TAR ·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Commands — Lab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Create some files worth backing up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mkdir -p ~/project &amp;&amp; touch ~/project/app_{1..5}.conf &amp;&amp; echo data &gt; …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Copy and study backup.sh — arguments, command substitution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cd ~/scripts &amp;&amp; cp ~/course/labs/lab-12-backup-script/backup.sh . &amp;&amp; cat backup.sh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Run it against the project directory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bash backup.sh ~/project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List the archive contents to verify the backup (tar tzf)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tar tzf ~/backups/project-*.tar.gz | head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Check the archive size and free disk space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du -h ~/backups &amp;&amp; df -h / | tail -1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Extract the archive into a restore directory to prove it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mkdir -p ~/restore &amp;&amp; tar xzf ~/backups/project-*.tar.gz -C ~/restore &amp;&amp; ls 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detailed step-by-step walkthrough is in the Learner Guide and labs/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Script — Backup with tar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dated project-YYYY-MM-DD.tar.gz appears in ~/backups, tar tzf lists the five .conf files, the restore directory round-trips them, and a missing argument exits with status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Linux Shell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Configure the shell environment used to run integration scripts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Select and combine text-processing tools for build and release pipelines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Select scripts as the tool for integrating and deploying software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Configure scripts that accept parameters for flexible deployment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Configure scripts that branch on test results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Configure scripts that repeat deployment steps over many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Linux Networking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Processes and cron · package management · deploying services · network configuration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Linux Networking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Processes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ps, top and htop view processes; kill signals stop them; &amp; , bg, fg and jobs manage background 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Cron scheduling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cron + crontab automate scripts on a schedule — minute, hour, day, month, weekday.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Package managers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APT/dpkg on Debian-family, dnf/yum/rpm on Red Hat-family — install, upgrade, remove, autoremove.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Deploying services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Install a web server (NGINX/Apache), manage it with systemctl, verify it with curl.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Network configuration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ip addr, hostname, /etc/hosts, ping, ss — configure and inspect Linux networking.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Remote access &amp; transfer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SSH for secure shells; scp/sftp for secure file transfer; diagnose issues from test results.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WHAT IS RUNNING?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Viewing Processes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snapshot of your processes · everything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ps    ps aux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full format · tree view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ps -ef    ps -e --forest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one user's processes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ps -u username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interactive monitors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top    htop    pstree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top sorted by CPU for one user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top -n 10 -o %CPU -U root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ps aux is the everyday workhorse; top/htop watch the system live.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JOB CONTROL &amp;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Background &amp; Foreground Jobs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command &amp;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Start a command in the background.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Ctrl-C / Ctrl-Z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Kill / suspend the foreground process.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jobs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List this shell's jobs with their numbers.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bg %n · fg %n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Resume a suspended job in the background / bring it to the front.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kill PID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Send SIGTERM (15) — polite request to stop.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kill -9 PID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Send SIGKILL — force-stop when TERM is ignored.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TIME-BASED JOB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Cron — Scheduled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the five schedule fields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*  *  *  *  *   =  minute hour day-of-month month weekday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every Monday at 07:00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0 7 * * 1 /opt/sales/bin/weekly-report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every minute (testing)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* * * * * $HOME/scripts/logdate.sh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manage your schedule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crontab -l  list · crontab -e  edit · crontab -r  remove all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shortcuts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@daily · @hourly · @reboot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cron runs your scripts on a schedule — redirect their output to a log file you can tail.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SOFTWARE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Packages &amp; Package Managers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Package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•  A package is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 collection of files (the software) plus metadata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Description, version and dependencies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The unit of software installation on Linux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•  A package manager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Installs, upgrades and removes packages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Resolves and manages dependencies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Tracks what is installed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RPM distros: dnf/yum/rpm · DEB distros: apt/dpkg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DEB PACKAGE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APT — Debian / Ubuntu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refresh the local package list first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sudo apt update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search and inspect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apt search nginx    apt show nginx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install · remove · purge configs too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sudo apt install -y nginx    sudo apt remove nginx    sudo apt purge nginx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upgrade everything installed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sudo apt upgrade -y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clean unused dependencies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sudo apt autoremove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the low-level tool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dpkg -l · dpkg -L pkg · dpkg -i pkg.deb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apt combines the older apt-get and apt-cache; dpkg works on .deb files directly.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RPM PACKAGE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dnf / yum / rpm — Red Hat Family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RHEL 8+ / CentOS 8+ / Fedora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sudo dnf install -y package    dnf search string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RHEL 7 / CentOS 7 and earlier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sudo yum install -y package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info · remove · upgrade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dnf info pkg    dnf remove pkg    dnf upgrade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the low-level tool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rpm -qa list · rpm -ql pkg files · rpm -ivh pkg.rpm install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keep it clean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dnf autoremove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Same concepts as APT — different family, different commands.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 REAL RELEASE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Deploying a Web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sudo apt update — refresh package lists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sudo apt install -y nginx — install the release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service nginx start · systemctl status — run and check the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Publish content to /var/www/html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curl -I http://localhost — configuration test: expect HTTP 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TAR · GZIP · DF · 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Archiving &amp; Disk Usage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compress · decompress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gzip shakespeare.txt    gunzip shakespeare.txt.gz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create a compressed archive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tar czf backup.tar.gz mydir/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list an archive's contents (verify!)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tar tzf backup.tar.gz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extract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tar xzf backup.tar.gz    # c create · x extract · t list · v verbose · z gzip · f file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estimate directory usage · free space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du -h mydir    df -h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tar bundles a directory tree into one file; gzip compresses it — the classic release artifact.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SSH · SCP · SFTP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Copying Files over the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Secure copy: scp source user@host:dest — one-shot transfers over SSH.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sftp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Interactive secure file transfer session: sftp user@host.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ssh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Secure remote shell — the admin's front door to every server.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Windows clients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PuTTY (pscp/psftp, PuTTYgen for key conversion), WinSCP, FileZilla, Cyberduck.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Keys over passwords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SSH keys authenticate without passwords — generate, convert, protect them.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Legacy ftp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Unencrypted — replace with sftp/scp wherever you find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CONFIGURE · TEST ·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Configuration &amp;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interfaces and addresses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ip addr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routing table / default gateway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ip route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reachability — by IP, then by name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ping -c 4 8.8.8.8    ping -c 4 google.com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local name mapping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echo '127.0.0.1 myapp.local' | sudo tee -a /etc/hosts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listening sockets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ss -tuln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layer-7 test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curl -I http://localhost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Test in layers: interface → gateway → IP reachability → DNS → application. Each failure isolates the fault.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DIAGNOSIS FROM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Interpreting Test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IPv4 address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Interface or DHCP problem — check ip addr and the network config.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Gateway unreachable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Local network problem — check ip route, cabling, the VM network.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IP ping OK, name ping fails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DNS problem — check /etc/resolv.conf and /etc/hosts.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HTTP not 200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Service problem — is it running? Listening on the port? Firewall blocking?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Linux Networking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13–13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Managing Processes and Scheduling with Cron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14–14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Package Management and Web Server Deployment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15–15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Network Configuration and Troubleshooting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Managing Processes and Scheduling with Cron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Inspect and control processes with ps, top and kill; run jobs in the background with &amp;, bg and fg; then automate a script with a cron schedule and verify it from its log.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cron job that runs logdate.sh every minute and appends timestamps to ~/cron.log.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ps, top, kill, cron, crontab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MANAGING PROCESSES AND SCHEDULING WITH CRON ·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Commands — Lab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List your processes, then everything on the system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ps &amp;&amp; ps aux | head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Watch processes interactively with top (press q to quit)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top -n 1 | head -15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Start a long-running background job with &amp;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sleep 600 &amp;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List jobs and find the sleep's process ID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jobs &amp;&amp; ps aux | grep 'sleep 600' | grep -v grep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Kill the background process by PID (old-deck exercise)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kill $(pgrep -f 'sleep 600') &amp;&amp; jobs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Open a second bash shell, find its PID with ps aux | grep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bash &amp; ps aux | grep bash | head &amp;&amp; kill 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detailed step-by-step walkthrough is in the Learner Guide and labs/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Managing Processes and Scheduling with Cron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killed sleep disappears from jobs, and ~/cron.log gains one timestamp line per minute while the crontab entry is active.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Package Management and Web Server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Manage software with APT and dpkg, then deploy a real service: install NGINX, publish a page, control the service, and run a configuration test with curl to interpret the result.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running NGINX web server serving your own index.html, verified by an HTTP 200 from curl.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apt, dpkg, nginx, systemctl/service, curl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PACKAGE MANAGEMENT AND WEB SERVER DEPLOYMENT ·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Commands — Lab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Refresh the package lists (always do this first)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sudo apt update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Search the repositories and inspect a package before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apt search nginx 2&gt;/dev/null | head &amp;&amp; apt show nginx | head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Install the NGINX web server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sudo apt install -y nginx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Confirm what dpkg installed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dpkg -l | grep nginx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Start the service and check its status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sudo service nginx start &amp;&amp; service nginx status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Run a configuration test: request the default page and read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curl -I http://localhost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detailed step-by-step walkthrough is in the Learner Guide and labs/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Package Management and Web Server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curl -I returns HTTP/1.1 200 OK and curl http://localhost shows your deployed heading; nginx -t reports the configuration file syntax is ok.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Configuration and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Inspect and test Linux networking: interfaces and addresses with ip, name resolution with /etc/hosts, reachability with ping, sockets with ss — then run netcheck.sh to automate the diagnosis and interpret its report.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netcheck.sh — a network health-check script that tests interface, DNS, gateway and web reachability and prints a PASS/FAIL report.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ip, ping, ss, getent, curl, ssh/scp (concept)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NETWORK CONFIGURATION AND TROUBLESHOOTING ·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Commands — Lab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List the network interfaces and their IP addresses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ip addr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Show the routing table and identify the default gateway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ip route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Check the hostname and its resolution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hostname &amp;&amp; getent hosts $(hostname)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Test reachability with ping (4 packets)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ping -c 4 8.8.8.8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Test name resolution + reachability together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ping -c 4 google.com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Map a friendly name in /etc/hosts and ping it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echo '127.0.0.1 myapp.local' | sudo tee -a /etc/hosts &amp;&amp; ping -c 2 myapp.local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detailed step-by-step walkthrough is in the Learner Guide and labs/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Configuration and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ping 8.8.8.8 and ping google.com both succeed, ss -tuln lists the listening services, and netcheck.sh prints PASS for interface, gateway, DNS and web tests.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Linux Networking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Execute configuration tests on running processes and schedule automated jobs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Configure software products and deploy a release to the platform, then test it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Execute network configuration tests and diagnose issues from the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Linux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Security principles · least privilege · firewall · hardening and audit scripts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Linux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Security trade-offs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Nothing is perfectly secure — balance convenience against risk; assess severity, probability and cost.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Multiuser 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file and process has an owner; compromising one account need not compromise the system.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Least privilege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root only when required; avoid shared accounts and direct root logins; control access with sudo.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Minimise &amp; encrypt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Install only what you need; replace FTP/telnet/HTTP with SFTP/SSH/HTTPS.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Firewall &amp; monitoring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Filter connections with ufw/iptables; review logs and monitor system activity routinely.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Continuous improvement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Audit configurations with scripts, identify improvements and implement modifications.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IS LINUX SECURE?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Nothing is perfectly secure — security is a series of trade-offs.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No passwords = easy but insecure. Powered off = secure but unusable. Linux is only as secure as you make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FOUR QUESTIONS BEFORE EVERY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What is the severity of the risk?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What is the probability of it occurring?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What is the cost to mitigate it?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How effective is the countermeasure?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ARCHITECTURAL 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Linux Has a Security 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Multiuser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Open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•  Multiuser by design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Every file and every process has an owner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Permissions contain a compromised account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Only root can do anything — protect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•  Open + centrally managed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Open source: no black box, flaws get found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Package repositories: tested, signed software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One command updates everything installed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Windows: third-party downloads, untested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HARDENING PRINCIPLES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Best Practices — Reduce the Surface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Minimise software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If you don't need it, don't install it; uninstall what you stop using.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Minimise services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If you don't need a service, don't start it — every listener is attack surface.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Separate systems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compromised service shouldn't take the others with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Encrypt in transit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FTP→SFTP, telnet→SSH, HTTP→HTTPS, SNMPv1/2→v3 — defeat eavesdropping.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HARDENING PRINCIPLES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 Best Practices — Control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Least privilege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root only when required; restrictive permissions that still let people 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shared accounts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person, one account — shared accounts destroy accountability.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direct root logins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Log in as yourself, then sudo — controlled and monitored.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Multifactor authentication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Something you know + something you have or are (password + OTP/fingerprint).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Maintain accounts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Have a process to remove access when people leave.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Monitor activity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logs routinely; send them to a central logging system.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TECHNICAL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Firewall &amp; Data at Rest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Linux ships a firewall: netfilter + iptables/ufw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sudo ufw allow ssh &amp;&amp; sudo ufw enable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verify the rules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sudo ufw status verbose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see what is exposed before and after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ss -tuln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lock down a sensitive file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chmod 600 ~/secret.key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find risky world-writable files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find / -type f -perm -o+w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encrypt data at rest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Full-disk or per-file encryption protects data on disk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Only allow connections from desired sources; encryption protects data even if the disk walks away.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Linux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16–16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Hardening Linux 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17–17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Building a Security Audit Script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Hardening Linux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Apply the security principles: enforce least privilege on files, lock down SSH-style access, review accounts, and enable the ufw firewall so only the services you need are reachable.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hardened lab machine — private key file at 600, firewall enabled with only SSH/HTTP allowed, and a reviewed account 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chmod, passwd, ufw, ss, sudo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HARDENING LINUX SECURITY ·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Commands — Lab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Review the accounts on the system — real users have a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cut -d: -f1,7 /etc/passwd | head -15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Confirm only root has UID 0 (any other UID-0 user is a red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awk -F: '$3==0 {print $1}' /etc/passwd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Create a sensitive file and apply least privilege —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touch ~/secret.key &amp;&amp; chmod 600 ~/secret.key &amp;&amp; ls -l ~/secret.key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Find world-writable files in your home tree — each is a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find ~ -maxdepth 2 -type f -perm -o+w 2&gt;/dev/null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Check which services are listening before the firewall goes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ss -tuln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Install and enable the ufw firewall, allowing only SSH and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sudo apt install -y ufw &amp;&amp; sudo ufw allow ssh &amp;&amp; sudo ufw allow http &amp;&amp; sudo ufw 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detailed step-by-step walkthrough is in the Learner Guide and labs/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Hardening Linux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ls -l shows -rw------- on secret.key, ufw status reports active with only 22 and 80 allowed, and the UID-0 check returns root alone.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Building a Security Audit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Combine everything you learned — functions, conditionals, loops, pipes and text processing — into audit.sh, a security audit script that checks accounts, permissions, listening services and disk usage, then writes a timestamped report.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audit.sh — a security audit tool producing ~/audit-YYYY-MM-DD.txt with a finding per check.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bash, awk, find, ss, 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BUILDING A SECURITY AUDIT SCRIPT · FULL STEPS IN THE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Commands — Lab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3977639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024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6152" y="1920240"/>
            <a:ext cx="146304" cy="146304"/>
          </a:xfrm>
          <a:prstGeom prst="ellipse">
            <a:avLst/>
          </a:prstGeom>
          <a:solidFill>
            <a:srgbClr val="FEB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72184" y="192024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40280"/>
            <a:ext cx="10058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Copy and study audit.sh — one function per check, a report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cp ~/course/labs/lab-17-security-audit/audit.sh ~/scripts/ &amp;&amp; cat …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Run the audit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bash ~/scripts/audit.sh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Read the report it generated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cat ~/audit-*.txt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Fix a finding — remove world-write from any flagged file —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chmod o-w &lt;flagged-file&gt; &amp;&amp; bash ~/scripts/audit.sh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Extend the script: add a check that the ufw firewall is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sudo ufw status | grep -q 'Status: active' &amp;&amp; echo PASS || echo FAIL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7E8BA3"/>
                </a:solidFill>
                <a:latin typeface="Consolas"/>
              </a:rPr>
              <a:t># Schedule the audit to run daily at 07:00 with cron — …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0B981"/>
                </a:solidFill>
                <a:latin typeface="Consolas"/>
              </a:rPr>
              <a:t>$ </a:t>
            </a:r>
            <a:r>
              <a:rPr sz="1400">
                <a:solidFill>
                  <a:srgbClr val="9CDCFE"/>
                </a:solidFill>
                <a:latin typeface="Consolas"/>
              </a:rPr>
              <a:t>( crontab -l 2&gt;/dev/null; echo '0 7 * * * $HOME/scripts/audit.sh' ) | crontab - 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0447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detailed step-by-step walkthrough is in the Learner Guide and labs/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Building a Security Audit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audit.sh writes a dated report listing each check with PASS/FAIL, the re-run shows your fix flipped a FAIL to PASS, and crontab -l shows the daily 07:00 entry before cleanup.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Linux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Identify potential improvements to the Linux security configuration and implement them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Implement a script that audits the configuration and surfaces improvements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 ACHIEVED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Linux Fundamental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Analysed Linux release components, the file system, users and permissions.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Shell Scripting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scripts with variables, input, conditionals, loops, functions and debugging.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Networking Configuration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Managed processes and cron, deployed NGINX with APT, tested and diagnosed the network.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Linux Security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Applied least privilege, enabled the firewall and automated a security audit.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TEST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Sharpen your readiness with the Tertiary Infotech practice exams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Practice exams: https://exams.tertiaryinfotech.com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Attempt the Linux practice questions under timed conditions and review every explanation.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Revisit any lab whose topic you miss.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Next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CompTIA Linux+ Training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Cyber Security Awareness Workshop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WordPress Masterclass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AI Devops with Docker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Kubernetes and Cloud Native Associate (KCNA) Training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Browse all courses at www.tertiarycourses.com.sg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WE'RE HERE TO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If you have any enquiries during and after the class, contact us: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Email: enquiry@tertiaryinfotech.com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Tel: +65 6100 0613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Website: www.tertiarycourses.com.sg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Feedback &amp; Certificate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Share your feedback in the course survey on the LMS — it helps us improve the course.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certificate of completion is issued on the LMS at the end of the course.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Portal: https://lms-tms.tertiaryinfotech.com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END OF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configure Linux, automate it with shell scripts, and secure it — happy scripting!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Linux Masterclass  ·  C579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